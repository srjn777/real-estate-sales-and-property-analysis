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HILRAJ K" userId="cf3a2bad19a20ad8" providerId="LiveId" clId="{8BD3FA48-E14D-4FBE-BA68-91CDF0B7E0C9}"/>
    <pc:docChg chg="undo custSel modSld">
      <pc:chgData name="NIKHILRAJ K" userId="cf3a2bad19a20ad8" providerId="LiveId" clId="{8BD3FA48-E14D-4FBE-BA68-91CDF0B7E0C9}" dt="2026-09-17T15:56:33.095" v="78" actId="20577"/>
      <pc:docMkLst>
        <pc:docMk/>
      </pc:docMkLst>
      <pc:sldChg chg="modSp mod">
        <pc:chgData name="NIKHILRAJ K" userId="cf3a2bad19a20ad8" providerId="LiveId" clId="{8BD3FA48-E14D-4FBE-BA68-91CDF0B7E0C9}" dt="2026-09-17T15:56:33.095" v="78" actId="20577"/>
        <pc:sldMkLst>
          <pc:docMk/>
          <pc:sldMk cId="2335651486" sldId="273"/>
        </pc:sldMkLst>
        <pc:spChg chg="mod">
          <ac:chgData name="NIKHILRAJ K" userId="cf3a2bad19a20ad8" providerId="LiveId" clId="{8BD3FA48-E14D-4FBE-BA68-91CDF0B7E0C9}" dt="2026-09-17T15:56:33.095" v="78" actId="20577"/>
          <ac:spMkLst>
            <pc:docMk/>
            <pc:sldMk cId="2335651486" sldId="273"/>
            <ac:spMk id="14" creationId="{9AB6A964-9B6A-B203-2F36-99604FA22E8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29D615-E146-DFB4-62A4-7C440E5E30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4" y="0"/>
            <a:ext cx="12045696" cy="265175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3DF56DC-0DDA-AA62-85CC-7D6EA6006B30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A89E"/>
          </a:solidFill>
          <a:ln>
            <a:solidFill>
              <a:srgbClr val="34A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78415E-CEDD-7229-06DF-B8372DC91E80}"/>
              </a:ext>
            </a:extLst>
          </p:cNvPr>
          <p:cNvSpPr txBox="1"/>
          <p:nvPr/>
        </p:nvSpPr>
        <p:spPr>
          <a:xfrm>
            <a:off x="2061972" y="2738944"/>
            <a:ext cx="6117336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FFFFFF"/>
                </a:solidFill>
                <a:latin typeface="Aptos"/>
              </a:rPr>
              <a:t>&amp; PROPE</a:t>
            </a:r>
            <a:r>
              <a:rPr lang="en-US" sz="2400" b="1" dirty="0">
                <a:solidFill>
                  <a:srgbClr val="FFFFFF"/>
                </a:solidFill>
                <a:latin typeface="Aptos"/>
              </a:rPr>
              <a:t>RTY AN</a:t>
            </a:r>
            <a:r>
              <a:rPr lang="en-US" sz="2400" b="1" dirty="0"/>
              <a:t> Professional Training I </a:t>
            </a:r>
            <a:r>
              <a:rPr lang="en-US" sz="3400" b="1" dirty="0">
                <a:solidFill>
                  <a:srgbClr val="FFFFFF"/>
                </a:solidFill>
                <a:latin typeface="Aptos"/>
              </a:rPr>
              <a:t>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1A6389-732F-1072-C1C4-16C2CC6C5606}"/>
              </a:ext>
            </a:extLst>
          </p:cNvPr>
          <p:cNvSpPr txBox="1"/>
          <p:nvPr/>
        </p:nvSpPr>
        <p:spPr>
          <a:xfrm>
            <a:off x="2788158" y="3585329"/>
            <a:ext cx="68953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Estate Sales &amp; Property Analysis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934CA4-B9F6-09C1-D65F-63E8D43FB27B}"/>
              </a:ext>
            </a:extLst>
          </p:cNvPr>
          <p:cNvSpPr txBox="1"/>
          <p:nvPr/>
        </p:nvSpPr>
        <p:spPr>
          <a:xfrm>
            <a:off x="2390394" y="2418917"/>
            <a:ext cx="75575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DEPARTMENT OF COMPUTER SCIENCE AND ENGINEERING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B6A964-9B6A-B203-2F36-99604FA22E8A}"/>
              </a:ext>
            </a:extLst>
          </p:cNvPr>
          <p:cNvSpPr txBox="1"/>
          <p:nvPr/>
        </p:nvSpPr>
        <p:spPr>
          <a:xfrm>
            <a:off x="863862" y="5340096"/>
            <a:ext cx="10475688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PROJECT STUDENT                                                                                                               GUIDE</a:t>
            </a:r>
          </a:p>
          <a:p>
            <a:r>
              <a:rPr lang="en-US" b="1" dirty="0"/>
              <a:t>SRUJAN AKASH MYLARI</a:t>
            </a:r>
            <a:r>
              <a:rPr lang="en-US" b="1"/>
              <a:t>,44111017                                                                                       </a:t>
            </a:r>
            <a:r>
              <a:rPr lang="en-US" b="1" dirty="0"/>
              <a:t>Dr. A.VIJI AMUTHA MARY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5651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A89E"/>
          </a:solidFill>
          <a:ln>
            <a:solidFill>
              <a:srgbClr val="34A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2860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>
                <a:solidFill>
                  <a:srgbClr val="2A6F97"/>
                </a:solidFill>
                <a:latin typeface="Aptos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Presentation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50292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100" b="1">
                <a:solidFill>
                  <a:srgbClr val="5D6974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0749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755648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>
                <a:solidFill>
                  <a:srgbClr val="34A89E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28216"/>
            <a:ext cx="393192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00" b="1">
                <a:solidFill>
                  <a:srgbClr val="12233A"/>
                </a:solidFill>
                <a:latin typeface="Aptos"/>
              </a:rPr>
              <a:t>Certificate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0749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28231" y="1755648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>
                <a:solidFill>
                  <a:srgbClr val="34A89E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79" y="1728216"/>
            <a:ext cx="393192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00" b="1">
                <a:solidFill>
                  <a:srgbClr val="12233A"/>
                </a:solidFill>
                <a:latin typeface="Aptos"/>
              </a:rPr>
              <a:t>Abstract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04872"/>
            <a:ext cx="50749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2560320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>
                <a:solidFill>
                  <a:srgbClr val="34A89E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532888"/>
            <a:ext cx="393192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00" b="1">
                <a:solidFill>
                  <a:srgbClr val="12233A"/>
                </a:solidFill>
                <a:latin typeface="Aptos"/>
              </a:rPr>
              <a:t>Introduction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404872"/>
            <a:ext cx="50749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1" y="2560320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>
                <a:solidFill>
                  <a:srgbClr val="34A89E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79" y="2532888"/>
            <a:ext cx="393192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00" b="1">
                <a:solidFill>
                  <a:srgbClr val="12233A"/>
                </a:solidFill>
                <a:latin typeface="Aptos"/>
              </a:rPr>
              <a:t>Objective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209544"/>
            <a:ext cx="50749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3364991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>
                <a:solidFill>
                  <a:srgbClr val="34A89E"/>
                </a:solidFill>
                <a:latin typeface="Apto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337560"/>
            <a:ext cx="393192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00" b="1">
                <a:solidFill>
                  <a:srgbClr val="12233A"/>
                </a:solidFill>
                <a:latin typeface="Aptos"/>
              </a:rPr>
              <a:t>Ideation Map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209544"/>
            <a:ext cx="50749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28231" y="3364991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>
                <a:solidFill>
                  <a:srgbClr val="34A89E"/>
                </a:solidFill>
                <a:latin typeface="Aptos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79" y="3337560"/>
            <a:ext cx="393192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00" b="1">
                <a:solidFill>
                  <a:srgbClr val="12233A"/>
                </a:solidFill>
                <a:latin typeface="Aptos"/>
              </a:rPr>
              <a:t>System Architecture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014216"/>
            <a:ext cx="50749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0392" y="4169664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>
                <a:solidFill>
                  <a:srgbClr val="34A89E"/>
                </a:solidFill>
                <a:latin typeface="Aptos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142232"/>
            <a:ext cx="393192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00" b="1">
                <a:solidFill>
                  <a:srgbClr val="12233A"/>
                </a:solidFill>
                <a:latin typeface="Aptos"/>
              </a:rPr>
              <a:t>Module Implementation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014216"/>
            <a:ext cx="50749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1" y="4169664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>
                <a:solidFill>
                  <a:srgbClr val="34A89E"/>
                </a:solidFill>
                <a:latin typeface="Aptos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79" y="4142232"/>
            <a:ext cx="393192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00" b="1">
                <a:solidFill>
                  <a:srgbClr val="12233A"/>
                </a:solidFill>
                <a:latin typeface="Aptos"/>
              </a:rPr>
              <a:t>Results &amp; Discussions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818888"/>
            <a:ext cx="50749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0392" y="4974336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>
                <a:solidFill>
                  <a:srgbClr val="34A89E"/>
                </a:solidFill>
                <a:latin typeface="Aptos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946903"/>
            <a:ext cx="393192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00" b="1">
                <a:solidFill>
                  <a:srgbClr val="12233A"/>
                </a:solidFill>
                <a:latin typeface="Aptos"/>
              </a:rPr>
              <a:t>Conclusion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4818888"/>
            <a:ext cx="50749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28231" y="4974336"/>
            <a:ext cx="4572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>
                <a:solidFill>
                  <a:srgbClr val="34A89E"/>
                </a:solidFill>
                <a:latin typeface="Aptos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79" y="4946903"/>
            <a:ext cx="393192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00" b="1">
                <a:solidFill>
                  <a:srgbClr val="12233A"/>
                </a:solidFill>
                <a:latin typeface="Aptos"/>
              </a:rPr>
              <a:t>References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6492240"/>
            <a:ext cx="10972800" cy="10972"/>
          </a:xfrm>
          <a:prstGeom prst="rect">
            <a:avLst/>
          </a:prstGeom>
          <a:solidFill>
            <a:srgbClr val="E2E8EE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4360" y="6547104"/>
            <a:ext cx="365760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800" b="0">
                <a:solidFill>
                  <a:srgbClr val="5D6974"/>
                </a:solidFill>
                <a:latin typeface="Aptos"/>
              </a:rPr>
              <a:t>School of Computing • CSE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A89E"/>
          </a:solidFill>
          <a:ln>
            <a:solidFill>
              <a:srgbClr val="34A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2860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>
                <a:solidFill>
                  <a:srgbClr val="2A6F97"/>
                </a:solidFill>
                <a:latin typeface="Aptos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50292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100" b="1">
                <a:solidFill>
                  <a:srgbClr val="5D6974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789920" cy="6400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000" b="1">
                <a:solidFill>
                  <a:srgbClr val="12233A"/>
                </a:solidFill>
                <a:latin typeface="Aptos"/>
              </a:rPr>
              <a:t>An interactive dashboard for analyzing property sales data across location, property type, price category, and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14600"/>
            <a:ext cx="24871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724912"/>
            <a:ext cx="50292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00" b="1">
                <a:solidFill>
                  <a:srgbClr val="34A89E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27248"/>
            <a:ext cx="201168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500" b="1">
                <a:solidFill>
                  <a:srgbClr val="12233A"/>
                </a:solidFill>
                <a:latin typeface="Aptos"/>
              </a:rP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66160"/>
            <a:ext cx="205740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00" b="0">
                <a:solidFill>
                  <a:srgbClr val="5D6974"/>
                </a:solidFill>
                <a:latin typeface="Aptos"/>
              </a:rPr>
              <a:t>Property transactions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514600"/>
            <a:ext cx="24871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0" y="2724912"/>
            <a:ext cx="50292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00" b="1">
                <a:solidFill>
                  <a:srgbClr val="34A89E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127248"/>
            <a:ext cx="201168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500" b="1">
                <a:solidFill>
                  <a:srgbClr val="12233A"/>
                </a:solidFill>
                <a:latin typeface="Aptos"/>
              </a:rPr>
              <a:t>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566160"/>
            <a:ext cx="205740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00" b="0">
                <a:solidFill>
                  <a:srgbClr val="5D6974"/>
                </a:solidFill>
                <a:latin typeface="Aptos"/>
              </a:rPr>
              <a:t>Clean + transform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514600"/>
            <a:ext cx="24871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2724912"/>
            <a:ext cx="50292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00" b="1">
                <a:solidFill>
                  <a:srgbClr val="34A89E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127248"/>
            <a:ext cx="201168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500" b="1">
                <a:solidFill>
                  <a:srgbClr val="12233A"/>
                </a:solidFill>
                <a:latin typeface="Aptos"/>
              </a:rPr>
              <a:t>ANALYZE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566160"/>
            <a:ext cx="205740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00" b="0">
                <a:solidFill>
                  <a:srgbClr val="5D6974"/>
                </a:solidFill>
                <a:latin typeface="Aptos"/>
              </a:rPr>
              <a:t>Aggregate metrics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59" y="2514600"/>
            <a:ext cx="24871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39" y="2724912"/>
            <a:ext cx="50292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00" b="1">
                <a:solidFill>
                  <a:srgbClr val="34A89E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39" y="3127248"/>
            <a:ext cx="201168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500" b="1">
                <a:solidFill>
                  <a:srgbClr val="12233A"/>
                </a:solidFill>
                <a:latin typeface="Aptos"/>
              </a:rPr>
              <a:t>VISUALIZE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39" y="3566160"/>
            <a:ext cx="205740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00" b="0">
                <a:solidFill>
                  <a:srgbClr val="5D6974"/>
                </a:solidFill>
                <a:latin typeface="Aptos"/>
              </a:rPr>
              <a:t>KPIs + charts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892040"/>
            <a:ext cx="10698480" cy="4114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400" b="0">
                <a:solidFill>
                  <a:srgbClr val="232B34"/>
                </a:solidFill>
                <a:latin typeface="Aptos"/>
              </a:rPr>
              <a:t>Interactive filters help users move from a market-level view to a focused segment.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492240"/>
            <a:ext cx="10972800" cy="10972"/>
          </a:xfrm>
          <a:prstGeom prst="rect">
            <a:avLst/>
          </a:prstGeom>
          <a:solidFill>
            <a:srgbClr val="E2E8EE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6547104"/>
            <a:ext cx="365760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800" b="0">
                <a:solidFill>
                  <a:srgbClr val="5D6974"/>
                </a:solidFill>
                <a:latin typeface="Aptos"/>
              </a:rPr>
              <a:t>School of Computing • CSE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A89E"/>
          </a:solidFill>
          <a:ln>
            <a:solidFill>
              <a:srgbClr val="34A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2860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>
                <a:solidFill>
                  <a:srgbClr val="2A6F97"/>
                </a:solidFill>
                <a:latin typeface="Aptos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Why a real-estate dashboard is useful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50292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100" b="1">
                <a:solidFill>
                  <a:srgbClr val="5D6974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2578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64008" cy="4251960"/>
          </a:xfrm>
          <a:prstGeom prst="rect">
            <a:avLst/>
          </a:prstGeom>
          <a:solidFill>
            <a:srgbClr val="2A6F97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09928"/>
            <a:ext cx="480060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500" b="1">
                <a:solidFill>
                  <a:srgbClr val="12233A"/>
                </a:solidFill>
                <a:latin typeface="Aptos"/>
              </a:rPr>
              <a:t>Analysis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30552"/>
            <a:ext cx="484632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Compare locations consistently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69464"/>
            <a:ext cx="484632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Track monthly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08376"/>
            <a:ext cx="484632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Evaluate property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47288"/>
            <a:ext cx="484632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Understand price segments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484632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Identify patterns quickly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08760"/>
            <a:ext cx="52578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508760"/>
            <a:ext cx="64008" cy="4251960"/>
          </a:xfrm>
          <a:prstGeom prst="rect">
            <a:avLst/>
          </a:prstGeom>
          <a:solidFill>
            <a:srgbClr val="34A89E"/>
          </a:solidFill>
          <a:ln>
            <a:solidFill>
              <a:srgbClr val="34A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1709928"/>
            <a:ext cx="480060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500" b="1">
                <a:solidFill>
                  <a:srgbClr val="12233A"/>
                </a:solidFill>
                <a:latin typeface="Aptos"/>
              </a:rPr>
              <a:t>Digital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30552"/>
            <a:ext cx="484632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View decision-ready KPIs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69464"/>
            <a:ext cx="484632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Compare cities and markets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008376"/>
            <a:ext cx="484632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Filter property types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447288"/>
            <a:ext cx="484632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Explore price categories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886200"/>
            <a:ext cx="484632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Inspect monthly trends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989320"/>
            <a:ext cx="996696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300" b="1">
                <a:solidFill>
                  <a:srgbClr val="12233A"/>
                </a:solidFill>
                <a:latin typeface="Aptos"/>
              </a:rPr>
              <a:t>RAW DATA  →  VISUAL ANALYSIS  →  MEASURABLE INSIGHTS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92240"/>
            <a:ext cx="10972800" cy="10972"/>
          </a:xfrm>
          <a:prstGeom prst="rect">
            <a:avLst/>
          </a:prstGeom>
          <a:solidFill>
            <a:srgbClr val="E2E8EE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6547104"/>
            <a:ext cx="365760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800" b="0">
                <a:solidFill>
                  <a:srgbClr val="5D6974"/>
                </a:solidFill>
                <a:latin typeface="Aptos"/>
              </a:rPr>
              <a:t>School of Computing • CSE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A89E"/>
          </a:solidFill>
          <a:ln>
            <a:solidFill>
              <a:srgbClr val="34A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2860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>
                <a:solidFill>
                  <a:srgbClr val="2A6F97"/>
                </a:solidFill>
                <a:latin typeface="Aptos"/>
              </a:rPr>
              <a:t>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Core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50292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100" b="1">
                <a:solidFill>
                  <a:srgbClr val="5D6974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91639"/>
            <a:ext cx="4572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>
                <a:solidFill>
                  <a:srgbClr val="34A89E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288036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400" b="1">
                <a:solidFill>
                  <a:srgbClr val="12233A"/>
                </a:solidFill>
                <a:latin typeface="Aptos"/>
              </a:rPr>
              <a:t>Analyze 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96312"/>
            <a:ext cx="2880360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50" b="0">
                <a:solidFill>
                  <a:srgbClr val="5D6974"/>
                </a:solidFill>
                <a:latin typeface="Aptos"/>
              </a:rPr>
              <a:t>Study sales volume and revenue.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691639"/>
            <a:ext cx="4572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>
                <a:solidFill>
                  <a:srgbClr val="34A89E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75688"/>
            <a:ext cx="288036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400" b="1">
                <a:solidFill>
                  <a:srgbClr val="12233A"/>
                </a:solidFill>
                <a:latin typeface="Aptos"/>
              </a:rPr>
              <a:t>Compare locations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96312"/>
            <a:ext cx="2880360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50" b="0">
                <a:solidFill>
                  <a:srgbClr val="5D6974"/>
                </a:solidFill>
                <a:latin typeface="Aptos"/>
              </a:rPr>
              <a:t>Identify differences across cities.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087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19" y="1691639"/>
            <a:ext cx="4572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>
                <a:solidFill>
                  <a:srgbClr val="34A89E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2075688"/>
            <a:ext cx="288036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400" b="1">
                <a:solidFill>
                  <a:srgbClr val="12233A"/>
                </a:solidFill>
                <a:latin typeface="Aptos"/>
              </a:rPr>
              <a:t>Study property types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496312"/>
            <a:ext cx="2880360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50" b="0">
                <a:solidFill>
                  <a:srgbClr val="5D6974"/>
                </a:solidFill>
                <a:latin typeface="Aptos"/>
              </a:rPr>
              <a:t>Measure contribution by type.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5661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749039"/>
            <a:ext cx="4572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>
                <a:solidFill>
                  <a:srgbClr val="34A89E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33087"/>
            <a:ext cx="288036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400" b="1">
                <a:solidFill>
                  <a:srgbClr val="12233A"/>
                </a:solidFill>
                <a:latin typeface="Aptos"/>
              </a:rPr>
              <a:t>Segment prices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553712"/>
            <a:ext cx="2880360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50" b="0">
                <a:solidFill>
                  <a:srgbClr val="5D6974"/>
                </a:solidFill>
                <a:latin typeface="Aptos"/>
              </a:rPr>
              <a:t>Group properties into price categories.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5661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39"/>
            <a:ext cx="4572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>
                <a:solidFill>
                  <a:srgbClr val="34A89E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133087"/>
            <a:ext cx="288036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400" b="1">
                <a:solidFill>
                  <a:srgbClr val="12233A"/>
                </a:solidFill>
                <a:latin typeface="Aptos"/>
              </a:rPr>
              <a:t>Track trends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553712"/>
            <a:ext cx="2880360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50" b="0">
                <a:solidFill>
                  <a:srgbClr val="5D6974"/>
                </a:solidFill>
                <a:latin typeface="Aptos"/>
              </a:rPr>
              <a:t>Monitor monthly revenue.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5661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75319" y="3749039"/>
            <a:ext cx="4572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>
                <a:solidFill>
                  <a:srgbClr val="34A89E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4133087"/>
            <a:ext cx="288036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400" b="1">
                <a:solidFill>
                  <a:srgbClr val="12233A"/>
                </a:solidFill>
                <a:latin typeface="Aptos"/>
              </a:rPr>
              <a:t>Enable filters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4553712"/>
            <a:ext cx="2880360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50" b="0">
                <a:solidFill>
                  <a:srgbClr val="5D6974"/>
                </a:solidFill>
                <a:latin typeface="Aptos"/>
              </a:rPr>
              <a:t>Support focused exploration.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492240"/>
            <a:ext cx="10972800" cy="10972"/>
          </a:xfrm>
          <a:prstGeom prst="rect">
            <a:avLst/>
          </a:prstGeom>
          <a:solidFill>
            <a:srgbClr val="E2E8EE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6547104"/>
            <a:ext cx="365760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800" b="0">
                <a:solidFill>
                  <a:srgbClr val="5D6974"/>
                </a:solidFill>
                <a:latin typeface="Aptos"/>
              </a:rPr>
              <a:t>School of Computing • CSE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A89E"/>
          </a:solidFill>
          <a:ln>
            <a:solidFill>
              <a:srgbClr val="34A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2860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>
                <a:solidFill>
                  <a:srgbClr val="2A6F97"/>
                </a:solidFill>
                <a:latin typeface="Aptos"/>
              </a:rP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Ideation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50292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100" b="1">
                <a:solidFill>
                  <a:srgbClr val="5D6974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828800" cy="960120"/>
          </a:xfrm>
          <a:prstGeom prst="roundRect">
            <a:avLst/>
          </a:prstGeom>
          <a:solidFill>
            <a:srgbClr val="12233A"/>
          </a:solidFill>
          <a:ln>
            <a:solidFill>
              <a:srgbClr val="12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2240280"/>
            <a:ext cx="1609344" cy="50292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BUSINESS
PROBLEM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2011680"/>
            <a:ext cx="1828800" cy="960120"/>
          </a:xfrm>
          <a:prstGeom prst="roundRect">
            <a:avLst/>
          </a:prstGeom>
          <a:solidFill>
            <a:srgbClr val="2A6F97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64408" y="2240280"/>
            <a:ext cx="1609344" cy="50292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PROPERTY
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2011680"/>
            <a:ext cx="1828800" cy="960120"/>
          </a:xfrm>
          <a:prstGeom prst="roundRect">
            <a:avLst/>
          </a:prstGeom>
          <a:solidFill>
            <a:srgbClr val="34A89E"/>
          </a:solidFill>
          <a:ln>
            <a:solidFill>
              <a:srgbClr val="34A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87568" y="2240280"/>
            <a:ext cx="1609344" cy="50292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DATA
PREPARATION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011680"/>
            <a:ext cx="1828800" cy="960120"/>
          </a:xfrm>
          <a:prstGeom prst="roundRect">
            <a:avLst/>
          </a:prstGeom>
          <a:solidFill>
            <a:srgbClr val="2A6F97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0727" y="2240280"/>
            <a:ext cx="1609344" cy="50292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ANALYSIS
DIMENSIONS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3931920"/>
            <a:ext cx="1828800" cy="960120"/>
          </a:xfrm>
          <a:prstGeom prst="roundRect">
            <a:avLst/>
          </a:prstGeom>
          <a:solidFill>
            <a:srgbClr val="12233A"/>
          </a:solidFill>
          <a:ln>
            <a:solidFill>
              <a:srgbClr val="12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168128" y="4160520"/>
            <a:ext cx="1609344" cy="50292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DASHBOARD
INSIGHTS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977639"/>
            <a:ext cx="22402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096512"/>
            <a:ext cx="224028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050" b="1">
                <a:solidFill>
                  <a:srgbClr val="12233A"/>
                </a:solidFill>
                <a:latin typeface="Aptos"/>
              </a:rPr>
              <a:t>Location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11880" y="3977639"/>
            <a:ext cx="22402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11880" y="4096512"/>
            <a:ext cx="224028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050" b="1">
                <a:solidFill>
                  <a:srgbClr val="12233A"/>
                </a:solidFill>
                <a:latin typeface="Aptos"/>
              </a:rPr>
              <a:t>Property Type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977639"/>
            <a:ext cx="22402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4096512"/>
            <a:ext cx="224028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050" b="1">
                <a:solidFill>
                  <a:srgbClr val="12233A"/>
                </a:solidFill>
                <a:latin typeface="Aptos"/>
              </a:rPr>
              <a:t>Price Range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3977639"/>
            <a:ext cx="22402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06840" y="4096512"/>
            <a:ext cx="224028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050" b="1">
                <a:solidFill>
                  <a:srgbClr val="12233A"/>
                </a:solidFill>
                <a:latin typeface="Aptos"/>
              </a:rPr>
              <a:t>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074920"/>
            <a:ext cx="182880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900" b="1">
                <a:solidFill>
                  <a:srgbClr val="34A89E"/>
                </a:solidFill>
                <a:latin typeface="Aptos"/>
              </a:rPr>
              <a:t>IDEATION PRINCIPLE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394960"/>
            <a:ext cx="1051560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400" b="0">
                <a:solidFill>
                  <a:srgbClr val="232B34"/>
                </a:solidFill>
                <a:latin typeface="Aptos"/>
              </a:rPr>
              <a:t>Convert transaction data into a visual system that makes comparison and trend discovery easier.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492240"/>
            <a:ext cx="10972800" cy="10972"/>
          </a:xfrm>
          <a:prstGeom prst="rect">
            <a:avLst/>
          </a:prstGeom>
          <a:solidFill>
            <a:srgbClr val="E2E8EE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365760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800" b="0">
                <a:solidFill>
                  <a:srgbClr val="5D6974"/>
                </a:solidFill>
                <a:latin typeface="Aptos"/>
              </a:rPr>
              <a:t>School of Computing • CSE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A89E"/>
          </a:solidFill>
          <a:ln>
            <a:solidFill>
              <a:srgbClr val="34A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2860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>
                <a:solidFill>
                  <a:srgbClr val="2A6F97"/>
                </a:solidFill>
                <a:latin typeface="Apto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End-to-end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50292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100" b="1">
                <a:solidFill>
                  <a:srgbClr val="5D6974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2057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78308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300" b="1">
                <a:solidFill>
                  <a:srgbClr val="2A6F97"/>
                </a:solidFill>
                <a:latin typeface="Aptos"/>
              </a:rP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1783080" cy="594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050" b="0">
                <a:solidFill>
                  <a:srgbClr val="232B34"/>
                </a:solidFill>
                <a:latin typeface="Aptos"/>
              </a:rPr>
              <a:t>CSV / Excel / 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87752" y="2788920"/>
            <a:ext cx="27432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800" b="1">
                <a:solidFill>
                  <a:srgbClr val="34A89E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62072" y="2148840"/>
            <a:ext cx="2057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99232" y="2468880"/>
            <a:ext cx="178308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300" b="1">
                <a:solidFill>
                  <a:srgbClr val="2A6F97"/>
                </a:solidFill>
                <a:latin typeface="Aptos"/>
              </a:rPr>
              <a:t>PREPARE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2971800"/>
            <a:ext cx="1783080" cy="594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050" b="0">
                <a:solidFill>
                  <a:srgbClr val="232B34"/>
                </a:solidFill>
                <a:latin typeface="Aptos"/>
              </a:rPr>
              <a:t>Clean • validate • transform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46904" y="2788920"/>
            <a:ext cx="27432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800" b="1">
                <a:solidFill>
                  <a:srgbClr val="34A89E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21224" y="2148840"/>
            <a:ext cx="2057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58384" y="2468880"/>
            <a:ext cx="178308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300" b="1">
                <a:solidFill>
                  <a:srgbClr val="2A6F97"/>
                </a:solidFill>
                <a:latin typeface="Aptos"/>
              </a:rPr>
              <a:t>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58384" y="2971800"/>
            <a:ext cx="1783080" cy="594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050" b="0">
                <a:solidFill>
                  <a:srgbClr val="232B34"/>
                </a:solidFill>
                <a:latin typeface="Aptos"/>
              </a:rPr>
              <a:t>Aggregate revenue, sales &amp;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788920"/>
            <a:ext cx="27432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800" b="1">
                <a:solidFill>
                  <a:srgbClr val="34A89E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0376" y="2148840"/>
            <a:ext cx="2057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17536" y="2468880"/>
            <a:ext cx="178308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300" b="1">
                <a:solidFill>
                  <a:srgbClr val="2A6F97"/>
                </a:solidFill>
                <a:latin typeface="Aptos"/>
              </a:rPr>
              <a:t>VISUALIZE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7536" y="2971800"/>
            <a:ext cx="1783080" cy="594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050" b="0">
                <a:solidFill>
                  <a:srgbClr val="232B34"/>
                </a:solidFill>
                <a:latin typeface="Aptos"/>
              </a:rPr>
              <a:t>Dashboard • KPIs • charts • filters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5208" y="2788920"/>
            <a:ext cx="27432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800" b="1">
                <a:solidFill>
                  <a:srgbClr val="34A89E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39528" y="2148840"/>
            <a:ext cx="2057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76688" y="2468880"/>
            <a:ext cx="178308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300" b="1">
                <a:solidFill>
                  <a:srgbClr val="2A6F97"/>
                </a:solidFill>
                <a:latin typeface="Aptos"/>
              </a:rPr>
              <a:t>INSIGHT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76688" y="2971800"/>
            <a:ext cx="1783080" cy="594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050" b="0">
                <a:solidFill>
                  <a:srgbClr val="232B34"/>
                </a:solidFill>
                <a:latin typeface="Aptos"/>
              </a:rPr>
              <a:t>Location • type • price • trends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4800600"/>
            <a:ext cx="8503920" cy="713232"/>
          </a:xfrm>
          <a:prstGeom prst="roundRect">
            <a:avLst/>
          </a:prstGeom>
          <a:solidFill>
            <a:srgbClr val="EDF3F6"/>
          </a:solidFill>
          <a:ln>
            <a:solidFill>
              <a:srgbClr val="ED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057400" y="4983480"/>
            <a:ext cx="804672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100" b="1">
                <a:solidFill>
                  <a:srgbClr val="12233A"/>
                </a:solidFill>
                <a:latin typeface="Aptos"/>
              </a:rPr>
              <a:t>KEY PRINCIPLE  •  Separate data preparation from visualization so the dashboard remains consistent and maintainable.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492240"/>
            <a:ext cx="10972800" cy="10972"/>
          </a:xfrm>
          <a:prstGeom prst="rect">
            <a:avLst/>
          </a:prstGeom>
          <a:solidFill>
            <a:srgbClr val="E2E8EE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6547104"/>
            <a:ext cx="365760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800" b="0">
                <a:solidFill>
                  <a:srgbClr val="5D6974"/>
                </a:solidFill>
                <a:latin typeface="Aptos"/>
              </a:rPr>
              <a:t>School of Computing • CSE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A89E"/>
          </a:solidFill>
          <a:ln>
            <a:solidFill>
              <a:srgbClr val="34A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2860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>
                <a:solidFill>
                  <a:srgbClr val="2A6F97"/>
                </a:solidFill>
                <a:latin typeface="Aptos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Five modules complete the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50292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100" b="1">
                <a:solidFill>
                  <a:srgbClr val="5D6974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442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>
                <a:solidFill>
                  <a:srgbClr val="34A89E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554480"/>
            <a:ext cx="292608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00" b="1">
                <a:solidFill>
                  <a:srgbClr val="12233A"/>
                </a:solidFill>
                <a:latin typeface="Aptos"/>
              </a:rPr>
              <a:t>Data Preparation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563624"/>
            <a:ext cx="630936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50" b="0">
                <a:solidFill>
                  <a:srgbClr val="5D6974"/>
                </a:solidFill>
                <a:latin typeface="Aptos"/>
              </a:rPr>
              <a:t>Clean, standardize and validate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50008"/>
            <a:ext cx="107442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532888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>
                <a:solidFill>
                  <a:srgbClr val="34A89E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487168"/>
            <a:ext cx="292608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00" b="1">
                <a:solidFill>
                  <a:srgbClr val="12233A"/>
                </a:solidFill>
                <a:latin typeface="Aptos"/>
              </a:rPr>
              <a:t>Sales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496312"/>
            <a:ext cx="630936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50" b="0">
                <a:solidFill>
                  <a:srgbClr val="5D6974"/>
                </a:solidFill>
                <a:latin typeface="Aptos"/>
              </a:rPr>
              <a:t>Revenue, sales count and average price.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82696"/>
            <a:ext cx="107442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465576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>
                <a:solidFill>
                  <a:srgbClr val="34A89E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419856"/>
            <a:ext cx="292608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00" b="1">
                <a:solidFill>
                  <a:srgbClr val="12233A"/>
                </a:solidFill>
                <a:latin typeface="Aptos"/>
              </a:rPr>
              <a:t>Location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429000"/>
            <a:ext cx="630936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50" b="0">
                <a:solidFill>
                  <a:srgbClr val="5D6974"/>
                </a:solidFill>
                <a:latin typeface="Aptos"/>
              </a:rPr>
              <a:t>Compare cities and market activity.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15384"/>
            <a:ext cx="107442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398264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>
                <a:solidFill>
                  <a:srgbClr val="34A89E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352544"/>
            <a:ext cx="292608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00" b="1">
                <a:solidFill>
                  <a:srgbClr val="12233A"/>
                </a:solidFill>
                <a:latin typeface="Aptos"/>
              </a:rPr>
              <a:t>Price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361688"/>
            <a:ext cx="630936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50" b="0">
                <a:solidFill>
                  <a:srgbClr val="5D6974"/>
                </a:solidFill>
                <a:latin typeface="Aptos"/>
              </a:rPr>
              <a:t>Compare Budget, Mid-range, Premium and Luxury.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148072"/>
            <a:ext cx="107442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5330952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>
                <a:solidFill>
                  <a:srgbClr val="34A89E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285232"/>
            <a:ext cx="292608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00" b="1">
                <a:solidFill>
                  <a:srgbClr val="12233A"/>
                </a:solidFill>
                <a:latin typeface="Aptos"/>
              </a:rPr>
              <a:t>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294376"/>
            <a:ext cx="630936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50" b="0">
                <a:solidFill>
                  <a:srgbClr val="5D6974"/>
                </a:solidFill>
                <a:latin typeface="Aptos"/>
              </a:rPr>
              <a:t>KPIs, charts and interactive filters.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492240"/>
            <a:ext cx="10972800" cy="10972"/>
          </a:xfrm>
          <a:prstGeom prst="rect">
            <a:avLst/>
          </a:prstGeom>
          <a:solidFill>
            <a:srgbClr val="E2E8EE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365760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800" b="0">
                <a:solidFill>
                  <a:srgbClr val="5D6974"/>
                </a:solidFill>
                <a:latin typeface="Aptos"/>
              </a:rPr>
              <a:t>School of Computing • CSE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A89E"/>
          </a:solidFill>
          <a:ln>
            <a:solidFill>
              <a:srgbClr val="34A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2860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>
                <a:solidFill>
                  <a:srgbClr val="2A6F97"/>
                </a:solidFill>
                <a:latin typeface="Aptos"/>
              </a:rPr>
              <a:t>MODULE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Data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50292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100" b="1">
                <a:solidFill>
                  <a:srgbClr val="5D6974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4864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4008" cy="4480560"/>
          </a:xfrm>
          <a:prstGeom prst="rect">
            <a:avLst/>
          </a:prstGeom>
          <a:solidFill>
            <a:srgbClr val="2A6F97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18488"/>
            <a:ext cx="502920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500" b="1">
                <a:solidFill>
                  <a:srgbClr val="12233A"/>
                </a:solidFill>
                <a:latin typeface="Aptos"/>
              </a:rPr>
              <a:t>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39112"/>
            <a:ext cx="507492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Load transaction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78024"/>
            <a:ext cx="507492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Remove duplicate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16936"/>
            <a:ext cx="507492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Handle missing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55848"/>
            <a:ext cx="507492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Standardize city and property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94760"/>
            <a:ext cx="507492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Format sale dates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33672"/>
            <a:ext cx="507492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Create price categories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41732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0" y="1417320"/>
            <a:ext cx="64008" cy="4480560"/>
          </a:xfrm>
          <a:prstGeom prst="rect">
            <a:avLst/>
          </a:prstGeom>
          <a:solidFill>
            <a:srgbClr val="34A89E"/>
          </a:solidFill>
          <a:ln>
            <a:solidFill>
              <a:srgbClr val="34A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9400" y="1618488"/>
            <a:ext cx="461772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500" b="1">
                <a:solidFill>
                  <a:srgbClr val="12233A"/>
                </a:solidFill>
                <a:latin typeface="Aptos"/>
              </a:rPr>
              <a:t>Key fields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039112"/>
            <a:ext cx="466344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Property 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478024"/>
            <a:ext cx="466344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City / Location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916936"/>
            <a:ext cx="466344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Property 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355848"/>
            <a:ext cx="466344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Sale 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794760"/>
            <a:ext cx="466344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Sale Price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233672"/>
            <a:ext cx="466344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Area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672584"/>
            <a:ext cx="466344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Price Category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5440680"/>
            <a:ext cx="45720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050" b="1">
                <a:solidFill>
                  <a:srgbClr val="12233A"/>
                </a:solidFill>
                <a:latin typeface="Aptos"/>
              </a:rPr>
              <a:t>Categories:  Budget  •  Mid-range  •  Premium  •  Luxury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492240"/>
            <a:ext cx="10972800" cy="10972"/>
          </a:xfrm>
          <a:prstGeom prst="rect">
            <a:avLst/>
          </a:prstGeom>
          <a:solidFill>
            <a:srgbClr val="E2E8EE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365760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800" b="0">
                <a:solidFill>
                  <a:srgbClr val="5D6974"/>
                </a:solidFill>
                <a:latin typeface="Aptos"/>
              </a:rPr>
              <a:t>School of Computing • CSE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A89E"/>
          </a:solidFill>
          <a:ln>
            <a:solidFill>
              <a:srgbClr val="34A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2860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>
                <a:solidFill>
                  <a:srgbClr val="2A6F97"/>
                </a:solidFill>
                <a:latin typeface="Aptos"/>
              </a:rPr>
              <a:t>MODULES 02–04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Sales, location and price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50292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100" b="1">
                <a:solidFill>
                  <a:srgbClr val="5D6974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5661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64008" cy="4526280"/>
          </a:xfrm>
          <a:prstGeom prst="rect">
            <a:avLst/>
          </a:prstGeom>
          <a:solidFill>
            <a:srgbClr val="2A6F97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18488"/>
            <a:ext cx="310896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500" b="1">
                <a:solidFill>
                  <a:srgbClr val="12233A"/>
                </a:solidFill>
                <a:latin typeface="Aptos"/>
              </a:rPr>
              <a:t>Sales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39112"/>
            <a:ext cx="3154679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Total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78024"/>
            <a:ext cx="3154679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Properties sold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16936"/>
            <a:ext cx="3154679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Average sale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55848"/>
            <a:ext cx="3154679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Monthly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94760"/>
            <a:ext cx="3154679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Sales volume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417320"/>
            <a:ext cx="35661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15968" y="1417320"/>
            <a:ext cx="64008" cy="4526280"/>
          </a:xfrm>
          <a:prstGeom prst="rect">
            <a:avLst/>
          </a:prstGeom>
          <a:solidFill>
            <a:srgbClr val="34A89E"/>
          </a:solidFill>
          <a:ln>
            <a:solidFill>
              <a:srgbClr val="34A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44568" y="1618488"/>
            <a:ext cx="310896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500" b="1">
                <a:solidFill>
                  <a:srgbClr val="12233A"/>
                </a:solidFill>
                <a:latin typeface="Aptos"/>
              </a:rPr>
              <a:t>Location +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039112"/>
            <a:ext cx="3154679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Revenue by 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478024"/>
            <a:ext cx="3154679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Sales by city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2916936"/>
            <a:ext cx="3154679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Average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3355848"/>
            <a:ext cx="3154679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Sales by property 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3794760"/>
            <a:ext cx="3154679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Revenue contribution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37575" y="1417320"/>
            <a:ext cx="35661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37575" y="1417320"/>
            <a:ext cx="64008" cy="4526280"/>
          </a:xfrm>
          <a:prstGeom prst="rect">
            <a:avLst/>
          </a:prstGeom>
          <a:solidFill>
            <a:srgbClr val="2A6F97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66175" y="1618488"/>
            <a:ext cx="310896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500" b="1">
                <a:solidFill>
                  <a:srgbClr val="12233A"/>
                </a:solidFill>
                <a:latin typeface="Aptos"/>
              </a:rPr>
              <a:t>Price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5" y="2039112"/>
            <a:ext cx="3154679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Budget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5" y="2478024"/>
            <a:ext cx="3154679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Mid-range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5" y="2916936"/>
            <a:ext cx="3154679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Premium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5" y="3355848"/>
            <a:ext cx="3154679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Luxury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6175" y="3794760"/>
            <a:ext cx="3154679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Compare sales, revenue &amp; average price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492240"/>
            <a:ext cx="10972800" cy="10972"/>
          </a:xfrm>
          <a:prstGeom prst="rect">
            <a:avLst/>
          </a:prstGeom>
          <a:solidFill>
            <a:srgbClr val="E2E8EE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6547104"/>
            <a:ext cx="365760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800" b="0">
                <a:solidFill>
                  <a:srgbClr val="5D6974"/>
                </a:solidFill>
                <a:latin typeface="Aptos"/>
              </a:rPr>
              <a:t>School of Computing • CSE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A89E"/>
          </a:solidFill>
          <a:ln>
            <a:solidFill>
              <a:srgbClr val="34A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2860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>
                <a:solidFill>
                  <a:srgbClr val="2A6F97"/>
                </a:solidFill>
                <a:latin typeface="Aptos"/>
              </a:rPr>
              <a:t>MODULE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Interactive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50292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100" b="1">
                <a:solidFill>
                  <a:srgbClr val="5D6974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25146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214884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200" b="1">
                <a:solidFill>
                  <a:srgbClr val="12233A"/>
                </a:solidFill>
                <a:latin typeface="Aptos"/>
              </a:rPr>
              <a:t>₹18.6 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38528"/>
            <a:ext cx="214884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950" b="0">
                <a:solidFill>
                  <a:srgbClr val="5D6974"/>
                </a:solidFill>
                <a:latin typeface="Aptos"/>
              </a:rPr>
              <a:t>Revenue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371600"/>
            <a:ext cx="25146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1508760"/>
            <a:ext cx="214884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200" b="1">
                <a:solidFill>
                  <a:srgbClr val="12233A"/>
                </a:solidFill>
                <a:latin typeface="Aptos"/>
              </a:rPr>
              <a:t>428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1938528"/>
            <a:ext cx="214884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950" b="0">
                <a:solidFill>
                  <a:srgbClr val="5D6974"/>
                </a:solidFill>
                <a:latin typeface="Aptos"/>
              </a:rPr>
              <a:t>Properties Sold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71600"/>
            <a:ext cx="25146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508760"/>
            <a:ext cx="214884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200" b="1">
                <a:solidFill>
                  <a:srgbClr val="12233A"/>
                </a:solidFill>
                <a:latin typeface="Aptos"/>
              </a:rPr>
              <a:t>₹43.5 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38528"/>
            <a:ext cx="214884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950" b="0">
                <a:solidFill>
                  <a:srgbClr val="5D6974"/>
                </a:solidFill>
                <a:latin typeface="Aptos"/>
              </a:rPr>
              <a:t>Avg. Price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371600"/>
            <a:ext cx="25146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81160" y="1508760"/>
            <a:ext cx="214884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200" b="1">
                <a:solidFill>
                  <a:srgbClr val="12233A"/>
                </a:solidFill>
                <a:latin typeface="Aptos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1938528"/>
            <a:ext cx="214884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950" b="0">
                <a:solidFill>
                  <a:srgbClr val="5D6974"/>
                </a:solidFill>
                <a:latin typeface="Aptos"/>
              </a:rPr>
              <a:t>Locations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606040"/>
            <a:ext cx="2560320" cy="502920"/>
          </a:xfrm>
          <a:prstGeom prst="roundRect">
            <a:avLst/>
          </a:prstGeom>
          <a:solidFill>
            <a:srgbClr val="F1F5F7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2743200"/>
            <a:ext cx="2231136" cy="20116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50" b="1">
                <a:solidFill>
                  <a:srgbClr val="12233A"/>
                </a:solidFill>
                <a:latin typeface="Aptos"/>
              </a:rPr>
              <a:t>City 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2606040"/>
            <a:ext cx="2560320" cy="502920"/>
          </a:xfrm>
          <a:prstGeom prst="roundRect">
            <a:avLst/>
          </a:prstGeom>
          <a:solidFill>
            <a:srgbClr val="F1F5F7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93592" y="2743200"/>
            <a:ext cx="2231136" cy="20116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50" b="1">
                <a:solidFill>
                  <a:srgbClr val="12233A"/>
                </a:solidFill>
                <a:latin typeface="Aptos"/>
              </a:rPr>
              <a:t>Property Type 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606040"/>
            <a:ext cx="2560320" cy="502920"/>
          </a:xfrm>
          <a:prstGeom prst="roundRect">
            <a:avLst/>
          </a:prstGeom>
          <a:solidFill>
            <a:srgbClr val="F1F5F7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28232" y="2743200"/>
            <a:ext cx="2231136" cy="20116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50" b="1">
                <a:solidFill>
                  <a:srgbClr val="12233A"/>
                </a:solidFill>
                <a:latin typeface="Aptos"/>
              </a:rPr>
              <a:t>Price Category 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2606040"/>
            <a:ext cx="2560320" cy="502920"/>
          </a:xfrm>
          <a:prstGeom prst="roundRect">
            <a:avLst/>
          </a:prstGeom>
          <a:solidFill>
            <a:srgbClr val="F1F5F7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62872" y="2743200"/>
            <a:ext cx="2231136" cy="20116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50" b="1">
                <a:solidFill>
                  <a:srgbClr val="12233A"/>
                </a:solidFill>
                <a:latin typeface="Aptos"/>
              </a:rPr>
              <a:t>Month / Year 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429000"/>
            <a:ext cx="649224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3657600"/>
            <a:ext cx="320040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>
                <a:solidFill>
                  <a:srgbClr val="2A6F97"/>
                </a:solidFill>
                <a:latin typeface="Aptos"/>
              </a:rPr>
              <a:t>MONTHLY REVENUE TREND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4663440"/>
            <a:ext cx="347472" cy="502920"/>
          </a:xfrm>
          <a:prstGeom prst="rect">
            <a:avLst/>
          </a:prstGeom>
          <a:solidFill>
            <a:srgbClr val="34A89E"/>
          </a:solidFill>
          <a:ln>
            <a:solidFill>
              <a:srgbClr val="34A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417319" y="4343400"/>
            <a:ext cx="347472" cy="822960"/>
          </a:xfrm>
          <a:prstGeom prst="rect">
            <a:avLst/>
          </a:prstGeom>
          <a:solidFill>
            <a:srgbClr val="34A89E"/>
          </a:solidFill>
          <a:ln>
            <a:solidFill>
              <a:srgbClr val="34A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965960" y="4526280"/>
            <a:ext cx="347472" cy="640080"/>
          </a:xfrm>
          <a:prstGeom prst="rect">
            <a:avLst/>
          </a:prstGeom>
          <a:solidFill>
            <a:srgbClr val="34A89E"/>
          </a:solidFill>
          <a:ln>
            <a:solidFill>
              <a:srgbClr val="34A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514600" y="4023360"/>
            <a:ext cx="347472" cy="1143000"/>
          </a:xfrm>
          <a:prstGeom prst="rect">
            <a:avLst/>
          </a:prstGeom>
          <a:solidFill>
            <a:srgbClr val="34A89E"/>
          </a:solidFill>
          <a:ln>
            <a:solidFill>
              <a:srgbClr val="34A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063239" y="4251960"/>
            <a:ext cx="347472" cy="914400"/>
          </a:xfrm>
          <a:prstGeom prst="rect">
            <a:avLst/>
          </a:prstGeom>
          <a:solidFill>
            <a:srgbClr val="34A89E"/>
          </a:solidFill>
          <a:ln>
            <a:solidFill>
              <a:srgbClr val="34A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611880" y="3749040"/>
            <a:ext cx="347472" cy="1417320"/>
          </a:xfrm>
          <a:prstGeom prst="rect">
            <a:avLst/>
          </a:prstGeom>
          <a:solidFill>
            <a:srgbClr val="34A89E"/>
          </a:solidFill>
          <a:ln>
            <a:solidFill>
              <a:srgbClr val="34A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160520" y="3977640"/>
            <a:ext cx="347472" cy="1188720"/>
          </a:xfrm>
          <a:prstGeom prst="rect">
            <a:avLst/>
          </a:prstGeom>
          <a:solidFill>
            <a:srgbClr val="34A89E"/>
          </a:solidFill>
          <a:ln>
            <a:solidFill>
              <a:srgbClr val="34A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709160" y="3474720"/>
            <a:ext cx="347472" cy="1691640"/>
          </a:xfrm>
          <a:prstGeom prst="rect">
            <a:avLst/>
          </a:prstGeom>
          <a:solidFill>
            <a:srgbClr val="34A89E"/>
          </a:solidFill>
          <a:ln>
            <a:solidFill>
              <a:srgbClr val="34A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257800" y="3749040"/>
            <a:ext cx="347472" cy="1417320"/>
          </a:xfrm>
          <a:prstGeom prst="rect">
            <a:avLst/>
          </a:prstGeom>
          <a:solidFill>
            <a:srgbClr val="34A89E"/>
          </a:solidFill>
          <a:ln>
            <a:solidFill>
              <a:srgbClr val="34A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806440" y="3337560"/>
            <a:ext cx="347472" cy="1828800"/>
          </a:xfrm>
          <a:prstGeom prst="rect">
            <a:avLst/>
          </a:prstGeom>
          <a:solidFill>
            <a:srgbClr val="34A89E"/>
          </a:solidFill>
          <a:ln>
            <a:solidFill>
              <a:srgbClr val="34A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315200" y="3429000"/>
            <a:ext cx="41605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43800" y="3657600"/>
            <a:ext cx="228600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>
                <a:solidFill>
                  <a:srgbClr val="2A6F97"/>
                </a:solidFill>
                <a:latin typeface="Aptos"/>
              </a:rPr>
              <a:t>TOP LOCATIONS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3800" y="4096512"/>
            <a:ext cx="21031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50" b="1">
                <a:solidFill>
                  <a:srgbClr val="232B34"/>
                </a:solidFill>
                <a:latin typeface="Aptos"/>
              </a:rPr>
              <a:t>Chennai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4096512"/>
            <a:ext cx="64008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050" b="1">
                <a:solidFill>
                  <a:srgbClr val="12233A"/>
                </a:solidFill>
                <a:latin typeface="Aptos"/>
              </a:rPr>
              <a:t>90%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4453128"/>
            <a:ext cx="21031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50" b="1">
                <a:solidFill>
                  <a:srgbClr val="232B34"/>
                </a:solidFill>
                <a:latin typeface="Aptos"/>
              </a:rPr>
              <a:t>Bengaluru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0" y="4453128"/>
            <a:ext cx="64008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050" b="1">
                <a:solidFill>
                  <a:srgbClr val="12233A"/>
                </a:solidFill>
                <a:latin typeface="Aptos"/>
              </a:rPr>
              <a:t>76%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43800" y="4809744"/>
            <a:ext cx="21031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50" b="1">
                <a:solidFill>
                  <a:srgbClr val="232B34"/>
                </a:solidFill>
                <a:latin typeface="Aptos"/>
              </a:rPr>
              <a:t>Hyderabad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24160" y="4809744"/>
            <a:ext cx="64008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050" b="1">
                <a:solidFill>
                  <a:srgbClr val="12233A"/>
                </a:solidFill>
                <a:latin typeface="Aptos"/>
              </a:rPr>
              <a:t>63%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43800" y="5166360"/>
            <a:ext cx="21031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50" b="1">
                <a:solidFill>
                  <a:srgbClr val="232B34"/>
                </a:solidFill>
                <a:latin typeface="Aptos"/>
              </a:rPr>
              <a:t>Coimbatore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24160" y="5166360"/>
            <a:ext cx="64008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050" b="1">
                <a:solidFill>
                  <a:srgbClr val="12233A"/>
                </a:solidFill>
                <a:latin typeface="Aptos"/>
              </a:rPr>
              <a:t>51%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43800" y="5440680"/>
            <a:ext cx="347472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850" b="0">
                <a:solidFill>
                  <a:srgbClr val="5D6974"/>
                </a:solidFill>
                <a:latin typeface="Aptos"/>
              </a:rPr>
              <a:t>Illustrative values shown for dashboard design.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" y="6492240"/>
            <a:ext cx="10972800" cy="10972"/>
          </a:xfrm>
          <a:prstGeom prst="rect">
            <a:avLst/>
          </a:prstGeom>
          <a:solidFill>
            <a:srgbClr val="E2E8EE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94360" y="6547104"/>
            <a:ext cx="365760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800" b="0">
                <a:solidFill>
                  <a:srgbClr val="5D6974"/>
                </a:solidFill>
                <a:latin typeface="Aptos"/>
              </a:rPr>
              <a:t>School of Computing • CSE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A89E"/>
          </a:solidFill>
          <a:ln>
            <a:solidFill>
              <a:srgbClr val="34A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2860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>
                <a:solidFill>
                  <a:srgbClr val="2A6F97"/>
                </a:solidFill>
                <a:latin typeface="Apto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What the dashboard makes visible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50292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100" b="1">
                <a:solidFill>
                  <a:srgbClr val="5D6974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8288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00" b="1">
                <a:solidFill>
                  <a:srgbClr val="12233A"/>
                </a:solidFill>
                <a:latin typeface="Aptos"/>
              </a:rP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47672"/>
            <a:ext cx="4663440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50" b="0">
                <a:solidFill>
                  <a:srgbClr val="5D6974"/>
                </a:solidFill>
                <a:latin typeface="Aptos"/>
              </a:rPr>
              <a:t>Monthly revenue can be tracked as a time series.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600200"/>
            <a:ext cx="18288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00" b="1">
                <a:solidFill>
                  <a:srgbClr val="12233A"/>
                </a:solidFill>
                <a:latin typeface="Aptos"/>
              </a:rPr>
              <a:t>Locations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47672"/>
            <a:ext cx="4663440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50" b="0">
                <a:solidFill>
                  <a:srgbClr val="5D6974"/>
                </a:solidFill>
                <a:latin typeface="Aptos"/>
              </a:rPr>
              <a:t>Cities can be compared using revenue and sales volume.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83464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017520"/>
            <a:ext cx="18288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00" b="1">
                <a:solidFill>
                  <a:srgbClr val="12233A"/>
                </a:solidFill>
                <a:latin typeface="Aptos"/>
              </a:rPr>
              <a:t>Property Types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64992"/>
            <a:ext cx="4663440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50" b="0">
                <a:solidFill>
                  <a:srgbClr val="5D6974"/>
                </a:solidFill>
                <a:latin typeface="Aptos"/>
              </a:rPr>
              <a:t>Sales and revenue contribution can be compared by type.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83464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3017520"/>
            <a:ext cx="18288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00" b="1">
                <a:solidFill>
                  <a:srgbClr val="12233A"/>
                </a:solidFill>
                <a:latin typeface="Aptos"/>
              </a:rPr>
              <a:t>Price Segments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364992"/>
            <a:ext cx="4663440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50" b="0">
                <a:solidFill>
                  <a:srgbClr val="5D6974"/>
                </a:solidFill>
                <a:latin typeface="Aptos"/>
              </a:rPr>
              <a:t>Price categories show how sales are distributed.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5196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434840"/>
            <a:ext cx="18288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00" b="1">
                <a:solidFill>
                  <a:srgbClr val="12233A"/>
                </a:solidFill>
                <a:latin typeface="Aptos"/>
              </a:rPr>
              <a:t>Filters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82312"/>
            <a:ext cx="4663440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50" b="0">
                <a:solidFill>
                  <a:srgbClr val="5D6974"/>
                </a:solidFill>
                <a:latin typeface="Aptos"/>
              </a:rPr>
              <a:t>Users can isolate a specific market segment.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25196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4434840"/>
            <a:ext cx="18288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00" b="1">
                <a:solidFill>
                  <a:srgbClr val="12233A"/>
                </a:solidFill>
                <a:latin typeface="Aptos"/>
              </a:rPr>
              <a:t>Insights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782312"/>
            <a:ext cx="4663440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50" b="0">
                <a:solidFill>
                  <a:srgbClr val="5D6974"/>
                </a:solidFill>
                <a:latin typeface="Aptos"/>
              </a:rPr>
              <a:t>Patterns can support further market research.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492240"/>
            <a:ext cx="10972800" cy="10972"/>
          </a:xfrm>
          <a:prstGeom prst="rect">
            <a:avLst/>
          </a:prstGeom>
          <a:solidFill>
            <a:srgbClr val="E2E8EE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6547104"/>
            <a:ext cx="365760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800" b="0">
                <a:solidFill>
                  <a:srgbClr val="5D6974"/>
                </a:solidFill>
                <a:latin typeface="Aptos"/>
              </a:rPr>
              <a:t>School of Computing • CSE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A89E"/>
          </a:solidFill>
          <a:ln>
            <a:solidFill>
              <a:srgbClr val="34A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2860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>
                <a:solidFill>
                  <a:srgbClr val="2A6F97"/>
                </a:solidFill>
                <a:latin typeface="Aptos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From dashboard evidence to preliminary screening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50292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100" b="1">
                <a:solidFill>
                  <a:srgbClr val="5D6974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691640" cy="914400"/>
          </a:xfrm>
          <a:prstGeom prst="roundRect">
            <a:avLst/>
          </a:prstGeom>
          <a:solidFill>
            <a:srgbClr val="12233A"/>
          </a:solidFill>
          <a:ln>
            <a:solidFill>
              <a:srgbClr val="12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50876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SALES
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856231"/>
            <a:ext cx="3200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700" b="1">
                <a:solidFill>
                  <a:srgbClr val="34A89E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600200"/>
            <a:ext cx="1691640" cy="914400"/>
          </a:xfrm>
          <a:prstGeom prst="roundRect">
            <a:avLst/>
          </a:prstGeom>
          <a:solidFill>
            <a:srgbClr val="2A6F97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63240" y="1828800"/>
            <a:ext cx="150876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MARKET
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856231"/>
            <a:ext cx="3200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700" b="1">
                <a:solidFill>
                  <a:srgbClr val="34A89E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600200"/>
            <a:ext cx="1691640" cy="914400"/>
          </a:xfrm>
          <a:prstGeom prst="roundRect">
            <a:avLst/>
          </a:prstGeom>
          <a:solidFill>
            <a:srgbClr val="12233A"/>
          </a:solidFill>
          <a:ln>
            <a:solidFill>
              <a:srgbClr val="12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0" y="1828800"/>
            <a:ext cx="150876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SEGMENTS
COMPARE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856231"/>
            <a:ext cx="3200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700" b="1">
                <a:solidFill>
                  <a:srgbClr val="34A89E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600200"/>
            <a:ext cx="1691640" cy="914400"/>
          </a:xfrm>
          <a:prstGeom prst="roundRect">
            <a:avLst/>
          </a:prstGeom>
          <a:solidFill>
            <a:srgbClr val="2A6F97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43800" y="1828800"/>
            <a:ext cx="150876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TRENDS
IDENTIFY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1856231"/>
            <a:ext cx="3200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700" b="1">
                <a:solidFill>
                  <a:srgbClr val="34A89E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1600200"/>
            <a:ext cx="1691640" cy="914400"/>
          </a:xfrm>
          <a:prstGeom prst="roundRect">
            <a:avLst/>
          </a:prstGeom>
          <a:solidFill>
            <a:srgbClr val="12233A"/>
          </a:solidFill>
          <a:ln>
            <a:solidFill>
              <a:srgbClr val="12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84080" y="1828800"/>
            <a:ext cx="150876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FURTHER
RESEARCH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15468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3154680"/>
            <a:ext cx="64008" cy="2103120"/>
          </a:xfrm>
          <a:prstGeom prst="rect">
            <a:avLst/>
          </a:prstGeom>
          <a:solidFill>
            <a:srgbClr val="2A6F97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3355848"/>
            <a:ext cx="292608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500" b="1">
                <a:solidFill>
                  <a:srgbClr val="12233A"/>
                </a:solidFill>
                <a:latin typeface="Aptos"/>
              </a:rPr>
              <a:t>Location signal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776472"/>
            <a:ext cx="297180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Higher sales activity or revenue can indicate an area for deeper market research.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315468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07408" y="3154680"/>
            <a:ext cx="64008" cy="2103120"/>
          </a:xfrm>
          <a:prstGeom prst="rect">
            <a:avLst/>
          </a:prstGeom>
          <a:solidFill>
            <a:srgbClr val="34A89E"/>
          </a:solidFill>
          <a:ln>
            <a:solidFill>
              <a:srgbClr val="34A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36008" y="3355848"/>
            <a:ext cx="292608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500" b="1">
                <a:solidFill>
                  <a:srgbClr val="12233A"/>
                </a:solidFill>
                <a:latin typeface="Aptos"/>
              </a:rPr>
              <a:t>Price signal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6008" y="3776472"/>
            <a:ext cx="297180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Comparing price categories can reveal where sales and revenue are concentrated.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83296" y="315468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83296" y="3154680"/>
            <a:ext cx="64008" cy="2103120"/>
          </a:xfrm>
          <a:prstGeom prst="rect">
            <a:avLst/>
          </a:prstGeom>
          <a:solidFill>
            <a:srgbClr val="2A6F97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11896" y="3355848"/>
            <a:ext cx="292608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500" b="1">
                <a:solidFill>
                  <a:srgbClr val="12233A"/>
                </a:solidFill>
                <a:latin typeface="Aptos"/>
              </a:rPr>
              <a:t>Trend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1896" y="3776472"/>
            <a:ext cx="297180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0">
                <a:solidFill>
                  <a:srgbClr val="232B34"/>
                </a:solidFill>
                <a:latin typeface="Aptos"/>
              </a:rPr>
              <a:t>• Monthly patterns can highlight changes in market activity over time.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715000"/>
            <a:ext cx="1005840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050" b="1">
                <a:solidFill>
                  <a:srgbClr val="5D6974"/>
                </a:solidFill>
                <a:latin typeface="Aptos"/>
              </a:rPr>
              <a:t>These are analytical signals, not financial recommendations. Due diligence remains necessary.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6492240"/>
            <a:ext cx="10972800" cy="10972"/>
          </a:xfrm>
          <a:prstGeom prst="rect">
            <a:avLst/>
          </a:prstGeom>
          <a:solidFill>
            <a:srgbClr val="E2E8EE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6547104"/>
            <a:ext cx="365760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800" b="0">
                <a:solidFill>
                  <a:srgbClr val="5D6974"/>
                </a:solidFill>
                <a:latin typeface="Aptos"/>
              </a:rPr>
              <a:t>School of Computing • CSE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A89E"/>
          </a:solidFill>
          <a:ln>
            <a:solidFill>
              <a:srgbClr val="34A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2860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>
                <a:solidFill>
                  <a:srgbClr val="2A6F97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Project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50292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100" b="1">
                <a:solidFill>
                  <a:srgbClr val="5D6974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965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148840"/>
            <a:ext cx="173736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000" b="1">
                <a:solidFill>
                  <a:srgbClr val="34A89E"/>
                </a:solidFill>
                <a:latin typeface="Aptos"/>
              </a:rPr>
              <a:t>ANALYZE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51760"/>
            <a:ext cx="173736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150" b="1">
                <a:solidFill>
                  <a:srgbClr val="12233A"/>
                </a:solidFill>
                <a:latin typeface="Aptos"/>
              </a:rPr>
              <a:t>Sales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1" y="1828800"/>
            <a:ext cx="1965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17520" y="2148840"/>
            <a:ext cx="173736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000" b="1">
                <a:solidFill>
                  <a:srgbClr val="34A89E"/>
                </a:solidFill>
                <a:latin typeface="Aptos"/>
              </a:rPr>
              <a:t>COMPARE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651760"/>
            <a:ext cx="173736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150" b="1">
                <a:solidFill>
                  <a:srgbClr val="12233A"/>
                </a:solidFill>
                <a:latin typeface="Aptos"/>
              </a:rPr>
              <a:t>Locations + types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75504" y="1828800"/>
            <a:ext cx="1965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85232" y="2148840"/>
            <a:ext cx="173736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000" b="1">
                <a:solidFill>
                  <a:srgbClr val="34A89E"/>
                </a:solidFill>
                <a:latin typeface="Aptos"/>
              </a:rPr>
              <a:t>SEGMENT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85232" y="2651760"/>
            <a:ext cx="173736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150" b="1">
                <a:solidFill>
                  <a:srgbClr val="12233A"/>
                </a:solidFill>
                <a:latin typeface="Aptos"/>
              </a:rPr>
              <a:t>Price categories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43215" y="1828800"/>
            <a:ext cx="1965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52943" y="2148840"/>
            <a:ext cx="173736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000" b="1">
                <a:solidFill>
                  <a:srgbClr val="34A89E"/>
                </a:solidFill>
                <a:latin typeface="Aptos"/>
              </a:rPr>
              <a:t>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52943" y="2651760"/>
            <a:ext cx="173736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150" b="1">
                <a:solidFill>
                  <a:srgbClr val="12233A"/>
                </a:solidFill>
                <a:latin typeface="Aptos"/>
              </a:rPr>
              <a:t>Monthly trends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10928" y="1828800"/>
            <a:ext cx="1965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20655" y="2148840"/>
            <a:ext cx="173736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000" b="1">
                <a:solidFill>
                  <a:srgbClr val="34A89E"/>
                </a:solidFill>
                <a:latin typeface="Aptos"/>
              </a:rPr>
              <a:t>VISUALIZE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0655" y="2651760"/>
            <a:ext cx="173736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150" b="1">
                <a:solidFill>
                  <a:srgbClr val="12233A"/>
                </a:solidFill>
                <a:latin typeface="Aptos"/>
              </a:rPr>
              <a:t>Interactive KPIs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251960"/>
            <a:ext cx="10149840" cy="594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800" b="1">
                <a:solidFill>
                  <a:srgbClr val="12233A"/>
                </a:solidFill>
                <a:latin typeface="Aptos"/>
              </a:rPr>
              <a:t>The dashboard transforms property transactions into a single visual view of market performance.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492240"/>
            <a:ext cx="10972800" cy="10972"/>
          </a:xfrm>
          <a:prstGeom prst="rect">
            <a:avLst/>
          </a:prstGeom>
          <a:solidFill>
            <a:srgbClr val="E2E8EE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365760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800" b="0">
                <a:solidFill>
                  <a:srgbClr val="5D6974"/>
                </a:solidFill>
                <a:latin typeface="Aptos"/>
              </a:rPr>
              <a:t>School of Computing • CSE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A89E"/>
          </a:solidFill>
          <a:ln>
            <a:solidFill>
              <a:srgbClr val="34A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2860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>
                <a:solidFill>
                  <a:srgbClr val="2A6F97"/>
                </a:solidFill>
                <a:latin typeface="Aptos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50292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100" b="1">
                <a:solidFill>
                  <a:srgbClr val="5D6974"/>
                </a:solidFill>
                <a:latin typeface="Aptos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73352"/>
            <a:ext cx="3200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800" b="1">
                <a:solidFill>
                  <a:srgbClr val="34A89E"/>
                </a:solidFill>
                <a:latin typeface="Aptos"/>
              </a:rP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691640"/>
            <a:ext cx="406908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1">
                <a:solidFill>
                  <a:srgbClr val="12233A"/>
                </a:solidFill>
                <a:latin typeface="Aptos"/>
              </a:rPr>
              <a:t>Live listing integration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120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673352"/>
            <a:ext cx="3200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800" b="1">
                <a:solidFill>
                  <a:srgbClr val="34A89E"/>
                </a:solidFill>
                <a:latin typeface="Aptos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79" y="1691640"/>
            <a:ext cx="406908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1">
                <a:solidFill>
                  <a:srgbClr val="12233A"/>
                </a:solidFill>
                <a:latin typeface="Aptos"/>
              </a:rPr>
              <a:t>Map-based location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43200"/>
            <a:ext cx="52120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999232"/>
            <a:ext cx="3200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800" b="1">
                <a:solidFill>
                  <a:srgbClr val="34A89E"/>
                </a:solidFill>
                <a:latin typeface="Aptos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017520"/>
            <a:ext cx="406908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1">
                <a:solidFill>
                  <a:srgbClr val="12233A"/>
                </a:solidFill>
                <a:latin typeface="Aptos"/>
              </a:rPr>
              <a:t>Machine-learning price prediction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743200"/>
            <a:ext cx="52120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2999232"/>
            <a:ext cx="3200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800" b="1">
                <a:solidFill>
                  <a:srgbClr val="34A89E"/>
                </a:solidFill>
                <a:latin typeface="Aptos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79" y="3017520"/>
            <a:ext cx="406908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1">
                <a:solidFill>
                  <a:srgbClr val="12233A"/>
                </a:solidFill>
                <a:latin typeface="Aptos"/>
              </a:rPr>
              <a:t>Rental yield and ROI analysis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69080"/>
            <a:ext cx="52120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325112"/>
            <a:ext cx="3200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800" b="1">
                <a:solidFill>
                  <a:srgbClr val="34A89E"/>
                </a:solidFill>
                <a:latin typeface="Aptos"/>
              </a:rPr>
              <a:t>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343400"/>
            <a:ext cx="406908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1">
                <a:solidFill>
                  <a:srgbClr val="12233A"/>
                </a:solidFill>
                <a:latin typeface="Aptos"/>
              </a:rPr>
              <a:t>Automated market reports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069080"/>
            <a:ext cx="52120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4325112"/>
            <a:ext cx="3200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800" b="1">
                <a:solidFill>
                  <a:srgbClr val="34A89E"/>
                </a:solidFill>
                <a:latin typeface="Aptos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79" y="4343400"/>
            <a:ext cx="406908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1">
                <a:solidFill>
                  <a:srgbClr val="12233A"/>
                </a:solidFill>
                <a:latin typeface="Aptos"/>
              </a:rPr>
              <a:t>Economic &amp; demographic data integration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492240"/>
            <a:ext cx="10972800" cy="10972"/>
          </a:xfrm>
          <a:prstGeom prst="rect">
            <a:avLst/>
          </a:prstGeom>
          <a:solidFill>
            <a:srgbClr val="E2E8EE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6547104"/>
            <a:ext cx="365760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800" b="0">
                <a:solidFill>
                  <a:srgbClr val="5D6974"/>
                </a:solidFill>
                <a:latin typeface="Aptos"/>
              </a:rPr>
              <a:t>School of Computing • CSE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A89E"/>
          </a:solidFill>
          <a:ln>
            <a:solidFill>
              <a:srgbClr val="34A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2860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>
                <a:solidFill>
                  <a:srgbClr val="2A6F97"/>
                </a:solidFill>
                <a:latin typeface="Aptos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Technology and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50292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100" b="1">
                <a:solidFill>
                  <a:srgbClr val="5D6974"/>
                </a:solidFill>
                <a:latin typeface="Aptos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106070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554480"/>
            <a:ext cx="45720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900" b="1">
                <a:solidFill>
                  <a:srgbClr val="34A89E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536192"/>
            <a:ext cx="905256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1">
                <a:solidFill>
                  <a:srgbClr val="12233A"/>
                </a:solidFill>
                <a:latin typeface="Aptos"/>
              </a:rPr>
              <a:t>Microsoft Power BI Documentation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130552"/>
            <a:ext cx="106070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2267712"/>
            <a:ext cx="45720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900" b="1">
                <a:solidFill>
                  <a:srgbClr val="34A89E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249424"/>
            <a:ext cx="905256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1">
                <a:solidFill>
                  <a:srgbClr val="12233A"/>
                </a:solidFill>
                <a:latin typeface="Aptos"/>
              </a:rPr>
              <a:t>Tableau Documentation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843784"/>
            <a:ext cx="106070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2980944"/>
            <a:ext cx="45720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900" b="1">
                <a:solidFill>
                  <a:srgbClr val="34A89E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962656"/>
            <a:ext cx="905256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1">
                <a:solidFill>
                  <a:srgbClr val="12233A"/>
                </a:solidFill>
                <a:latin typeface="Aptos"/>
              </a:rPr>
              <a:t>Python Documentation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557015"/>
            <a:ext cx="106070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3694176"/>
            <a:ext cx="45720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900" b="1">
                <a:solidFill>
                  <a:srgbClr val="34A89E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675887"/>
            <a:ext cx="905256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1">
                <a:solidFill>
                  <a:srgbClr val="12233A"/>
                </a:solidFill>
                <a:latin typeface="Aptos"/>
              </a:rPr>
              <a:t>Pandas Documentation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270248"/>
            <a:ext cx="106070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4407408"/>
            <a:ext cx="45720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900" b="1">
                <a:solidFill>
                  <a:srgbClr val="34A89E"/>
                </a:solidFill>
                <a:latin typeface="Apto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389120"/>
            <a:ext cx="905256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1">
                <a:solidFill>
                  <a:srgbClr val="12233A"/>
                </a:solidFill>
                <a:latin typeface="Aptos"/>
              </a:rPr>
              <a:t>PostgreSQL Documentation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983480"/>
            <a:ext cx="106070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7552" y="5120640"/>
            <a:ext cx="45720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900" b="1">
                <a:solidFill>
                  <a:srgbClr val="34A89E"/>
                </a:solidFill>
                <a:latin typeface="Aptos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5102352"/>
            <a:ext cx="905256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50" b="1">
                <a:solidFill>
                  <a:srgbClr val="12233A"/>
                </a:solidFill>
                <a:latin typeface="Aptos"/>
              </a:rPr>
              <a:t>Actual property-sales dataset used in the project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492240"/>
            <a:ext cx="10972800" cy="10972"/>
          </a:xfrm>
          <a:prstGeom prst="rect">
            <a:avLst/>
          </a:prstGeom>
          <a:solidFill>
            <a:srgbClr val="E2E8EE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6547104"/>
            <a:ext cx="365760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800" b="0">
                <a:solidFill>
                  <a:srgbClr val="5D6974"/>
                </a:solidFill>
                <a:latin typeface="Aptos"/>
              </a:rPr>
              <a:t>School of Computing • CSE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A"/>
          </a:solidFill>
          <a:ln>
            <a:solidFill>
              <a:srgbClr val="12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A89E"/>
          </a:solidFill>
          <a:ln>
            <a:solidFill>
              <a:srgbClr val="34A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07040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607040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800" b="1">
                <a:solidFill>
                  <a:srgbClr val="D2E0EA"/>
                </a:solidFill>
                <a:latin typeface="Aptos"/>
              </a:rPr>
              <a:t>REAL ESTATE SALES &amp; PROPERTY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657600"/>
            <a:ext cx="1060704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400" b="1">
                <a:solidFill>
                  <a:srgbClr val="34A89E"/>
                </a:solidFill>
                <a:latin typeface="Aptos"/>
              </a:rPr>
              <a:t>DATA  →  ANALYSIS  →  VISUALIZATION  →  INSIGHT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74920"/>
            <a:ext cx="106070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000" b="1">
                <a:solidFill>
                  <a:srgbClr val="B4C3D2"/>
                </a:solidFill>
                <a:latin typeface="Aptos"/>
              </a:rPr>
              <a:t>SRUJAN AKASH MYLARI • 44111017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926</Words>
  <Application>Microsoft Office PowerPoint</Application>
  <PresentationFormat>Widescreen</PresentationFormat>
  <Paragraphs>295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Nikhilraj</dc:creator>
  <cp:keywords/>
  <dc:description>generated using python-pptx</dc:description>
  <cp:lastModifiedBy>NIKHILRAJ K</cp:lastModifiedBy>
  <cp:revision>2</cp:revision>
  <dcterms:created xsi:type="dcterms:W3CDTF">2013-01-27T09:14:16Z</dcterms:created>
  <dcterms:modified xsi:type="dcterms:W3CDTF">2026-09-17T15:56:35Z</dcterms:modified>
  <cp:category/>
</cp:coreProperties>
</file>